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E0EE432-24C7-4EF6-B4AE-BD1D8F7F3D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EA9CB2-4DDD-472A-A687-54638CC89E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C88693-4CB4-450F-8168-BC6F894E02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71C4B5-17CC-4BDD-B178-17FD08643B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259C2D-C2DD-4D92-AC5F-C5A65ED75C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3BC314-9450-4653-9FA3-2EB2358F72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4AF24B-3806-4EDE-B8E2-8897F87E0D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D58476-8628-4836-B3FD-C6CED15BF6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ECEC1C-BD76-47BB-AEEE-BFC7512251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CFD07D-1419-4249-A933-577BA043F3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6479B6-895F-412F-99CC-9D8AF50190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BB832E-5AB6-444A-8B80-A6B1139AC2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54BACE-0FD5-4A76-8184-5857D324CE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D17A9F-62F0-4886-9872-A235B9567B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669280" y="-1371600"/>
            <a:ext cx="5028480" cy="502848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7a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858000" y="2286000"/>
            <a:ext cx="3199680" cy="3199680"/>
          </a:xfrm>
          <a:prstGeom prst="ellipse">
            <a:avLst/>
          </a:prstGeom>
          <a:solidFill>
            <a:srgbClr val="14a7a0">
              <a:alpha val="15000"/>
            </a:srgbClr>
          </a:solidFill>
          <a:ln w="12700">
            <a:solidFill>
              <a:srgbClr val="14a7a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" y="914400"/>
            <a:ext cx="63360" cy="2742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94360" y="82296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pc="799" strike="noStrike">
                <a:solidFill>
                  <a:srgbClr val="14a7a0"/>
                </a:solidFill>
                <a:effectLst/>
                <a:uFillTx/>
                <a:latin typeface="Trebuchet MS"/>
                <a:ea typeface="Trebuchet MS"/>
              </a:rPr>
              <a:t>CPEN 315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94360" y="1325880"/>
            <a:ext cx="68572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Computer Organisation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&amp; Architecture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94360" y="2487240"/>
            <a:ext cx="6857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14a7a0"/>
                </a:solidFill>
                <a:effectLst/>
                <a:uFillTx/>
                <a:latin typeface="Calibri"/>
                <a:ea typeface="Calibri"/>
              </a:rPr>
              <a:t>Final Project 2026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94360" y="294444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16-bit CPU Design  ·  32-bit MIPS Processor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594360" y="3474720"/>
            <a:ext cx="5028480" cy="3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94360" y="361188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0b4d0"/>
                </a:solidFill>
                <a:effectLst/>
                <a:uFillTx/>
                <a:latin typeface="Calibri"/>
                <a:ea typeface="Calibri"/>
              </a:rPr>
              <a:t>University of Ghana — School of Engineering Sciences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94360" y="388620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0b4d0"/>
                </a:solidFill>
                <a:effectLst/>
                <a:uFillTx/>
                <a:latin typeface="Calibri"/>
                <a:ea typeface="Calibri"/>
              </a:rPr>
              <a:t>Examiner: Prof. Robert A. Sowah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Project Overview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274320" y="822960"/>
            <a:ext cx="4159800" cy="38397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274320" y="822960"/>
            <a:ext cx="4159800" cy="383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347400" y="822960"/>
            <a:ext cx="4004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PART A — Logisim Evolution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365760" y="126180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16-bit CPU Design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65760" y="1572840"/>
            <a:ext cx="393120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ALU with 14 arithmetic + 6 relational operations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Register File: Reg A, B, IR, MAR, MBR, 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Shared internal bus with tri-state buffers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Program Counter: wraps at address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Manual simulation of 4 instruction 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4681800" y="822960"/>
            <a:ext cx="4159800" cy="38397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4681800" y="822960"/>
            <a:ext cx="4159800" cy="383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4754880" y="822960"/>
            <a:ext cx="4004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PART B — VHDL / GHDL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4773240" y="126180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32-bit MIPS Processor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4773240" y="1572840"/>
            <a:ext cx="393120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6 VHDL components with full testbenches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Instruction Memory (ROM, 16 entries)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CPU Control Unit — combinational logic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ALU Control + Register File (8 × 32-bit)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ALU + Data Memory (256 × 32 RAM)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d3748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Waveforms captured in GTKWave (.ghw)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4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5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Part A — 16-bit CPU in Logisim Evolution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47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9"/>
          <p:cNvSpPr/>
          <p:nvPr/>
        </p:nvSpPr>
        <p:spPr>
          <a:xfrm>
            <a:off x="255960" y="777240"/>
            <a:ext cx="291960" cy="291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3"/>
          <p:cNvSpPr/>
          <p:nvPr/>
        </p:nvSpPr>
        <p:spPr>
          <a:xfrm>
            <a:off x="255960" y="77724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6"/>
          <p:cNvSpPr/>
          <p:nvPr/>
        </p:nvSpPr>
        <p:spPr>
          <a:xfrm>
            <a:off x="621720" y="768240"/>
            <a:ext cx="493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ALU supports 14 arithmetic + 6 relational operations via op-code MUX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0"/>
          <p:cNvSpPr/>
          <p:nvPr/>
        </p:nvSpPr>
        <p:spPr>
          <a:xfrm>
            <a:off x="255960" y="1398960"/>
            <a:ext cx="291960" cy="291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8"/>
          <p:cNvSpPr/>
          <p:nvPr/>
        </p:nvSpPr>
        <p:spPr>
          <a:xfrm>
            <a:off x="255960" y="139896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1"/>
          <p:cNvSpPr/>
          <p:nvPr/>
        </p:nvSpPr>
        <p:spPr>
          <a:xfrm>
            <a:off x="621720" y="1389960"/>
            <a:ext cx="493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Instruction formats: R-type, I-type, J-type (all 16-bit wide)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51"/>
          <p:cNvSpPr/>
          <p:nvPr/>
        </p:nvSpPr>
        <p:spPr>
          <a:xfrm>
            <a:off x="255960" y="2020680"/>
            <a:ext cx="291960" cy="291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2"/>
          <p:cNvSpPr/>
          <p:nvPr/>
        </p:nvSpPr>
        <p:spPr>
          <a:xfrm>
            <a:off x="255960" y="202068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3"/>
          <p:cNvSpPr/>
          <p:nvPr/>
        </p:nvSpPr>
        <p:spPr>
          <a:xfrm>
            <a:off x="621720" y="2011680"/>
            <a:ext cx="493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Shared internal bus — tri-state buffers control data flow between units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2"/>
          <p:cNvSpPr/>
          <p:nvPr/>
        </p:nvSpPr>
        <p:spPr>
          <a:xfrm>
            <a:off x="255960" y="2642760"/>
            <a:ext cx="291960" cy="291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4"/>
          <p:cNvSpPr/>
          <p:nvPr/>
        </p:nvSpPr>
        <p:spPr>
          <a:xfrm>
            <a:off x="255960" y="264276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5"/>
          <p:cNvSpPr/>
          <p:nvPr/>
        </p:nvSpPr>
        <p:spPr>
          <a:xfrm>
            <a:off x="621720" y="2633400"/>
            <a:ext cx="493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Registers: Reg A, Reg B, IR (Instruction), MAR (8-bit), MBR, Output Reg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3"/>
          <p:cNvSpPr/>
          <p:nvPr/>
        </p:nvSpPr>
        <p:spPr>
          <a:xfrm>
            <a:off x="255960" y="3264480"/>
            <a:ext cx="291960" cy="291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6"/>
          <p:cNvSpPr/>
          <p:nvPr/>
        </p:nvSpPr>
        <p:spPr>
          <a:xfrm>
            <a:off x="255960" y="326448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7"/>
          <p:cNvSpPr/>
          <p:nvPr/>
        </p:nvSpPr>
        <p:spPr>
          <a:xfrm>
            <a:off x="621720" y="3255120"/>
            <a:ext cx="493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Program Counter wraps at address 4  (0000 → 0001 → 0010 → 0011 → 0000)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9"/>
          <p:cNvSpPr/>
          <p:nvPr/>
        </p:nvSpPr>
        <p:spPr>
          <a:xfrm>
            <a:off x="621720" y="3877200"/>
            <a:ext cx="493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760720" y="777240"/>
            <a:ext cx="3108240" cy="39312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0"/>
          <p:cNvSpPr/>
          <p:nvPr/>
        </p:nvSpPr>
        <p:spPr>
          <a:xfrm>
            <a:off x="5833800" y="822960"/>
            <a:ext cx="2971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Instruction Formats (16-bit)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1"/>
          <p:cNvSpPr/>
          <p:nvPr/>
        </p:nvSpPr>
        <p:spPr>
          <a:xfrm>
            <a:off x="5833800" y="1207080"/>
            <a:ext cx="685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R-type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5833800" y="1481400"/>
            <a:ext cx="689760" cy="502200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2"/>
          <p:cNvSpPr/>
          <p:nvPr/>
        </p:nvSpPr>
        <p:spPr>
          <a:xfrm>
            <a:off x="5833800" y="1481400"/>
            <a:ext cx="68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(4)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7"/>
          <p:cNvSpPr/>
          <p:nvPr/>
        </p:nvSpPr>
        <p:spPr>
          <a:xfrm>
            <a:off x="6542640" y="1481400"/>
            <a:ext cx="512640" cy="502200"/>
          </a:xfrm>
          <a:prstGeom prst="rect">
            <a:avLst/>
          </a:prstGeom>
          <a:solidFill>
            <a:srgbClr val="14a7a0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3"/>
          <p:cNvSpPr/>
          <p:nvPr/>
        </p:nvSpPr>
        <p:spPr>
          <a:xfrm>
            <a:off x="6542640" y="1481400"/>
            <a:ext cx="51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8"/>
          <p:cNvSpPr/>
          <p:nvPr/>
        </p:nvSpPr>
        <p:spPr>
          <a:xfrm>
            <a:off x="7074000" y="1481400"/>
            <a:ext cx="512640" cy="502200"/>
          </a:xfrm>
          <a:prstGeom prst="rect">
            <a:avLst/>
          </a:prstGeom>
          <a:solidFill>
            <a:srgbClr val="1abc9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4"/>
          <p:cNvSpPr/>
          <p:nvPr/>
        </p:nvSpPr>
        <p:spPr>
          <a:xfrm>
            <a:off x="7074000" y="1481400"/>
            <a:ext cx="51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7605360" y="1481400"/>
            <a:ext cx="512640" cy="502200"/>
          </a:xfrm>
          <a:prstGeom prst="rect">
            <a:avLst/>
          </a:prstGeom>
          <a:solidFill>
            <a:srgbClr val="16a08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605360" y="1481400"/>
            <a:ext cx="51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0"/>
          <p:cNvSpPr/>
          <p:nvPr/>
        </p:nvSpPr>
        <p:spPr>
          <a:xfrm>
            <a:off x="8137080" y="1481400"/>
            <a:ext cx="512640" cy="502200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8137080" y="1481400"/>
            <a:ext cx="51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5833800" y="2304360"/>
            <a:ext cx="685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I-type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1"/>
          <p:cNvSpPr/>
          <p:nvPr/>
        </p:nvSpPr>
        <p:spPr>
          <a:xfrm>
            <a:off x="5833800" y="2578680"/>
            <a:ext cx="689760" cy="502200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8"/>
          <p:cNvSpPr/>
          <p:nvPr/>
        </p:nvSpPr>
        <p:spPr>
          <a:xfrm>
            <a:off x="5833800" y="2578680"/>
            <a:ext cx="68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(4)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2"/>
          <p:cNvSpPr/>
          <p:nvPr/>
        </p:nvSpPr>
        <p:spPr>
          <a:xfrm>
            <a:off x="6542640" y="2578680"/>
            <a:ext cx="512640" cy="502200"/>
          </a:xfrm>
          <a:prstGeom prst="rect">
            <a:avLst/>
          </a:prstGeom>
          <a:solidFill>
            <a:srgbClr val="1f618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9"/>
          <p:cNvSpPr/>
          <p:nvPr/>
        </p:nvSpPr>
        <p:spPr>
          <a:xfrm>
            <a:off x="6542640" y="2578680"/>
            <a:ext cx="51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3"/>
          <p:cNvSpPr/>
          <p:nvPr/>
        </p:nvSpPr>
        <p:spPr>
          <a:xfrm>
            <a:off x="7074000" y="2578680"/>
            <a:ext cx="512640" cy="502200"/>
          </a:xfrm>
          <a:prstGeom prst="rect">
            <a:avLst/>
          </a:prstGeom>
          <a:solidFill>
            <a:srgbClr val="2874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0"/>
          <p:cNvSpPr/>
          <p:nvPr/>
        </p:nvSpPr>
        <p:spPr>
          <a:xfrm>
            <a:off x="7074000" y="2578680"/>
            <a:ext cx="51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4"/>
          <p:cNvSpPr/>
          <p:nvPr/>
        </p:nvSpPr>
        <p:spPr>
          <a:xfrm>
            <a:off x="7605360" y="2578680"/>
            <a:ext cx="1044000" cy="502200"/>
          </a:xfrm>
          <a:prstGeom prst="rect">
            <a:avLst/>
          </a:prstGeom>
          <a:solidFill>
            <a:srgbClr val="2980b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1"/>
          <p:cNvSpPr/>
          <p:nvPr/>
        </p:nvSpPr>
        <p:spPr>
          <a:xfrm>
            <a:off x="7605360" y="2578680"/>
            <a:ext cx="104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Imm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(6)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2"/>
          <p:cNvSpPr/>
          <p:nvPr/>
        </p:nvSpPr>
        <p:spPr>
          <a:xfrm>
            <a:off x="5833800" y="3401640"/>
            <a:ext cx="685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J-type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5"/>
          <p:cNvSpPr/>
          <p:nvPr/>
        </p:nvSpPr>
        <p:spPr>
          <a:xfrm>
            <a:off x="5833800" y="3675960"/>
            <a:ext cx="689760" cy="502200"/>
          </a:xfrm>
          <a:prstGeom prst="rect">
            <a:avLst/>
          </a:prstGeom>
          <a:solidFill>
            <a:srgbClr val="7b241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3"/>
          <p:cNvSpPr/>
          <p:nvPr/>
        </p:nvSpPr>
        <p:spPr>
          <a:xfrm>
            <a:off x="5833800" y="3675960"/>
            <a:ext cx="689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(4)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6"/>
          <p:cNvSpPr/>
          <p:nvPr/>
        </p:nvSpPr>
        <p:spPr>
          <a:xfrm>
            <a:off x="6542640" y="3675960"/>
            <a:ext cx="2107080" cy="5022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4"/>
          <p:cNvSpPr/>
          <p:nvPr/>
        </p:nvSpPr>
        <p:spPr>
          <a:xfrm>
            <a:off x="6542640" y="3675960"/>
            <a:ext cx="2107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Target Address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(12)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8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2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274320" y="36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Logisi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16-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bit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Full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Imple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ment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192960" y="685800"/>
            <a:ext cx="8915040" cy="447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ALU Design — project_ao &amp; project_ro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3" name="Table 0"/>
          <p:cNvGraphicFramePr/>
          <p:nvPr/>
        </p:nvGraphicFramePr>
        <p:xfrm>
          <a:off x="183960" y="677880"/>
          <a:ext cx="5028840" cy="424188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3017520"/>
              </a:tblGrid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Op Code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Operation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Notes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Adder block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AND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Bitwise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Bitwise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XOR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Bitwise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DIV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Quotient output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Remainder output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MULT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Lower 16 bits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Subtract (input tied HIGH)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8–9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SHL A / 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Logical left shift by 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10–11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SHR A / 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Logical right shift by 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NEG 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2's complement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NEG B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2's complement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4" name="Shape 5"/>
          <p:cNvSpPr/>
          <p:nvPr/>
        </p:nvSpPr>
        <p:spPr>
          <a:xfrm>
            <a:off x="5486400" y="749880"/>
            <a:ext cx="3382560" cy="20109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5486400" y="749880"/>
            <a:ext cx="3382560" cy="346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5559480" y="74988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Relational Unit (project_ro)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5559480" y="1152000"/>
            <a:ext cx="324540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Uses Logisim's built-in Comparator block.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Outputs one of 6 conditions selected by a 3-bit RUSel MUX: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EQ  ·  NEQ  ·  GT  ·  GTE  ·  LT  ·  LTE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5486400" y="2926080"/>
            <a:ext cx="3382560" cy="1828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5486400" y="2926080"/>
            <a:ext cx="3382560" cy="346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5559480" y="292608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ALU Architecture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5559480" y="3328560"/>
            <a:ext cx="32454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14 arithmetic ops via op-code multiplexer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Output driven by final MUX selecting between arithmetic result and relational result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Control Unit — Combinational Analysis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255960" y="777240"/>
            <a:ext cx="4388400" cy="7124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255960" y="777240"/>
            <a:ext cx="54000" cy="712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384120" y="795600"/>
            <a:ext cx="4159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Combinational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384120" y="1005840"/>
            <a:ext cx="41598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Logisim's built-in tool auto-generates minimised Boolean logic from truth tables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255960" y="1600200"/>
            <a:ext cx="4388400" cy="7124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"/>
          <p:cNvSpPr/>
          <p:nvPr/>
        </p:nvSpPr>
        <p:spPr>
          <a:xfrm>
            <a:off x="255960" y="1600200"/>
            <a:ext cx="54000" cy="712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384120" y="1618560"/>
            <a:ext cx="4159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Inputs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384120" y="1828800"/>
            <a:ext cx="41598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OPC7–OPC0 (8-bit opcode)  +  SC2–SC0 (3-bit step counter)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3"/>
          <p:cNvSpPr/>
          <p:nvPr/>
        </p:nvSpPr>
        <p:spPr>
          <a:xfrm>
            <a:off x="255960" y="2423160"/>
            <a:ext cx="4388400" cy="7124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255960" y="2423160"/>
            <a:ext cx="54000" cy="712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384120" y="2441520"/>
            <a:ext cx="4159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Outputs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384120" y="2651760"/>
            <a:ext cx="41598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C0–C15 — 16 control signals driving datapath components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255960" y="3246120"/>
            <a:ext cx="4388400" cy="7124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255960" y="3246120"/>
            <a:ext cx="54000" cy="712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384120" y="3264480"/>
            <a:ext cx="4159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Instructions handled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384120" y="3474720"/>
            <a:ext cx="41598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LoadA, LoadB, Arithmetic, Store — 4 instruction types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4846320" y="777240"/>
            <a:ext cx="4022640" cy="346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4919400" y="777240"/>
            <a:ext cx="388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RAM Contents — Simulation Programme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Table 0"/>
          <p:cNvGraphicFramePr/>
          <p:nvPr/>
        </p:nvGraphicFramePr>
        <p:xfrm>
          <a:off x="4846320" y="1170360"/>
          <a:ext cx="4023000" cy="265104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2057400"/>
              </a:tblGrid>
              <a:tr h="378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Address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Hex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Meaning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a5276"/>
                    </a:solidFill>
                  </a:tcPr>
                </a:tc>
              </a:tr>
              <a:tr h="378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LoadA from address 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78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0x010D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LoadB from address 13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8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0x0200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Arithmetic — ADD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78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0x030A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Store to address 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8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Operand A = 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3787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0x000F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Operand B = 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Control Unit Circuit"/>
          <p:cNvPicPr/>
          <p:nvPr/>
        </p:nvPicPr>
        <p:blipFill>
          <a:blip r:embed="rId1"/>
          <a:stretch/>
        </p:blipFill>
        <p:spPr>
          <a:xfrm>
            <a:off x="2372400" y="657720"/>
            <a:ext cx="3799800" cy="4457880"/>
          </a:xfrm>
          <a:prstGeom prst="rect">
            <a:avLst/>
          </a:prstGeom>
          <a:noFill/>
          <a:ln w="12700">
            <a:solidFill>
              <a:srgbClr val="1c3557"/>
            </a:solidFill>
            <a:round/>
          </a:ln>
        </p:spPr>
      </p:pic>
      <p:sp>
        <p:nvSpPr>
          <p:cNvPr id="127" name="Shape 16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3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59280" y="108000"/>
            <a:ext cx="4737240" cy="41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Contr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ol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Unit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Imple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ment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Part B — 32-bit MIPS Processor in VHDL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255960" y="777240"/>
            <a:ext cx="2651040" cy="157212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255960" y="777240"/>
            <a:ext cx="2651040" cy="365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preencoded.png"/>
          <p:cNvPicPr/>
          <p:nvPr/>
        </p:nvPicPr>
        <p:blipFill>
          <a:blip r:embed="rId1"/>
          <a:stretch/>
        </p:blipFill>
        <p:spPr>
          <a:xfrm>
            <a:off x="311040" y="8229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7"/>
          <p:cNvSpPr/>
          <p:nvPr/>
        </p:nvSpPr>
        <p:spPr>
          <a:xfrm>
            <a:off x="640080" y="77724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Instruction Memory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347400" y="1188720"/>
            <a:ext cx="2468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ROM, 16 entries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Fully combinational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PC → instruction(32)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3090600" y="777240"/>
            <a:ext cx="2651040" cy="157212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090600" y="777240"/>
            <a:ext cx="2651040" cy="365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1" descr="preencoded.png"/>
          <p:cNvPicPr/>
          <p:nvPr/>
        </p:nvPicPr>
        <p:blipFill>
          <a:blip r:embed="rId2"/>
          <a:stretch/>
        </p:blipFill>
        <p:spPr>
          <a:xfrm>
            <a:off x="3145680" y="8229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1"/>
          <p:cNvSpPr/>
          <p:nvPr/>
        </p:nvSpPr>
        <p:spPr>
          <a:xfrm>
            <a:off x="3474720" y="77724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CPU Control Unit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3182040" y="1188720"/>
            <a:ext cx="2468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opcode(3) → 9 control signals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Combinational logic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Reset drives all to 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5925240" y="777240"/>
            <a:ext cx="2651040" cy="157212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5925240" y="777240"/>
            <a:ext cx="2651040" cy="365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2" descr="preencoded.png"/>
          <p:cNvPicPr/>
          <p:nvPr/>
        </p:nvPicPr>
        <p:blipFill>
          <a:blip r:embed="rId3"/>
          <a:stretch/>
        </p:blipFill>
        <p:spPr>
          <a:xfrm>
            <a:off x="5980320" y="8229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15"/>
          <p:cNvSpPr/>
          <p:nvPr/>
        </p:nvSpPr>
        <p:spPr>
          <a:xfrm>
            <a:off x="6309360" y="77724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ALU Control Unit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6016680" y="1188720"/>
            <a:ext cx="2468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ALUOp(2) + Funct(4)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→ alu_control(3)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Decodes R-type funct field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7"/>
          <p:cNvSpPr/>
          <p:nvPr/>
        </p:nvSpPr>
        <p:spPr>
          <a:xfrm>
            <a:off x="255960" y="2514600"/>
            <a:ext cx="2651040" cy="157212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255960" y="2514600"/>
            <a:ext cx="2651040" cy="365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3" descr="preencoded.png"/>
          <p:cNvPicPr/>
          <p:nvPr/>
        </p:nvPicPr>
        <p:blipFill>
          <a:blip r:embed="rId4"/>
          <a:stretch/>
        </p:blipFill>
        <p:spPr>
          <a:xfrm>
            <a:off x="311040" y="256032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19"/>
          <p:cNvSpPr/>
          <p:nvPr/>
        </p:nvSpPr>
        <p:spPr>
          <a:xfrm>
            <a:off x="640080" y="251460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Register File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347400" y="2926080"/>
            <a:ext cx="2468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8 registers × 32-bit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R0 always reads 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Sync write, async read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1"/>
          <p:cNvSpPr/>
          <p:nvPr/>
        </p:nvSpPr>
        <p:spPr>
          <a:xfrm>
            <a:off x="3090600" y="2514600"/>
            <a:ext cx="2651040" cy="157212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3090600" y="2514600"/>
            <a:ext cx="2651040" cy="365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4" descr="preencoded.png"/>
          <p:cNvPicPr/>
          <p:nvPr/>
        </p:nvPicPr>
        <p:blipFill>
          <a:blip r:embed="rId5"/>
          <a:stretch/>
        </p:blipFill>
        <p:spPr>
          <a:xfrm>
            <a:off x="3145680" y="256032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23"/>
          <p:cNvSpPr/>
          <p:nvPr/>
        </p:nvSpPr>
        <p:spPr>
          <a:xfrm>
            <a:off x="3474720" y="251460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ALU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4"/>
          <p:cNvSpPr/>
          <p:nvPr/>
        </p:nvSpPr>
        <p:spPr>
          <a:xfrm>
            <a:off x="3182040" y="2926080"/>
            <a:ext cx="2468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5 ops: ADD/SUB/AND/OR/SLT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zero flag output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a(32), b(32) → result(32)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5"/>
          <p:cNvSpPr/>
          <p:nvPr/>
        </p:nvSpPr>
        <p:spPr>
          <a:xfrm>
            <a:off x="5925240" y="2514600"/>
            <a:ext cx="2651040" cy="157212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6"/>
          <p:cNvSpPr/>
          <p:nvPr/>
        </p:nvSpPr>
        <p:spPr>
          <a:xfrm>
            <a:off x="5925240" y="2514600"/>
            <a:ext cx="2651040" cy="365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5" descr="preencoded.png"/>
          <p:cNvPicPr/>
          <p:nvPr/>
        </p:nvPicPr>
        <p:blipFill>
          <a:blip r:embed="rId6"/>
          <a:stretch/>
        </p:blipFill>
        <p:spPr>
          <a:xfrm>
            <a:off x="5980320" y="256032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27"/>
          <p:cNvSpPr/>
          <p:nvPr/>
        </p:nvSpPr>
        <p:spPr>
          <a:xfrm>
            <a:off x="6309360" y="251460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Data Memory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8"/>
          <p:cNvSpPr/>
          <p:nvPr/>
        </p:nvSpPr>
        <p:spPr>
          <a:xfrm>
            <a:off x="6016680" y="2926080"/>
            <a:ext cx="2468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256 × 32 RAM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Sync write, async read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addr(32), write_data(32)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9"/>
          <p:cNvSpPr/>
          <p:nvPr/>
        </p:nvSpPr>
        <p:spPr>
          <a:xfrm>
            <a:off x="255960" y="4206240"/>
            <a:ext cx="8613000" cy="547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0"/>
          <p:cNvSpPr/>
          <p:nvPr/>
        </p:nvSpPr>
        <p:spPr>
          <a:xfrm>
            <a:off x="365760" y="4206240"/>
            <a:ext cx="8411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Toolchain:  GHDL (--std=08)  →  .ghw waveform file  →  GTKWave viewer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Instruction Set Architecture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255960" y="74988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Instruction Formats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255960" y="1143000"/>
            <a:ext cx="1005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R-format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255960" y="1417320"/>
            <a:ext cx="752400" cy="566280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255960" y="141732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1027440" y="1417320"/>
            <a:ext cx="752400" cy="566280"/>
          </a:xfrm>
          <a:prstGeom prst="rect">
            <a:avLst/>
          </a:prstGeom>
          <a:solidFill>
            <a:srgbClr val="1abc9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1027440" y="141732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1798920" y="1417320"/>
            <a:ext cx="752400" cy="566280"/>
          </a:xfrm>
          <a:prstGeom prst="rect">
            <a:avLst/>
          </a:prstGeom>
          <a:solidFill>
            <a:srgbClr val="16a08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1798920" y="141732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3"/>
          <p:cNvSpPr/>
          <p:nvPr/>
        </p:nvSpPr>
        <p:spPr>
          <a:xfrm>
            <a:off x="2570760" y="1417320"/>
            <a:ext cx="752400" cy="56628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2570760" y="141732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5"/>
          <p:cNvSpPr/>
          <p:nvPr/>
        </p:nvSpPr>
        <p:spPr>
          <a:xfrm>
            <a:off x="3342240" y="1417320"/>
            <a:ext cx="1009800" cy="566280"/>
          </a:xfrm>
          <a:prstGeom prst="rect">
            <a:avLst/>
          </a:prstGeom>
          <a:solidFill>
            <a:srgbClr val="0e665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6"/>
          <p:cNvSpPr/>
          <p:nvPr/>
        </p:nvSpPr>
        <p:spPr>
          <a:xfrm>
            <a:off x="3342240" y="1417320"/>
            <a:ext cx="10098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funct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(4)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255960" y="2148840"/>
            <a:ext cx="1005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I-format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8"/>
          <p:cNvSpPr/>
          <p:nvPr/>
        </p:nvSpPr>
        <p:spPr>
          <a:xfrm>
            <a:off x="255960" y="2423160"/>
            <a:ext cx="752400" cy="566280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9"/>
          <p:cNvSpPr/>
          <p:nvPr/>
        </p:nvSpPr>
        <p:spPr>
          <a:xfrm>
            <a:off x="255960" y="242316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0"/>
          <p:cNvSpPr/>
          <p:nvPr/>
        </p:nvSpPr>
        <p:spPr>
          <a:xfrm>
            <a:off x="1027440" y="2423160"/>
            <a:ext cx="752400" cy="566280"/>
          </a:xfrm>
          <a:prstGeom prst="rect">
            <a:avLst/>
          </a:prstGeom>
          <a:solidFill>
            <a:srgbClr val="1f618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1"/>
          <p:cNvSpPr/>
          <p:nvPr/>
        </p:nvSpPr>
        <p:spPr>
          <a:xfrm>
            <a:off x="1027440" y="242316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2"/>
          <p:cNvSpPr/>
          <p:nvPr/>
        </p:nvSpPr>
        <p:spPr>
          <a:xfrm>
            <a:off x="1798920" y="2423160"/>
            <a:ext cx="752400" cy="566280"/>
          </a:xfrm>
          <a:prstGeom prst="rect">
            <a:avLst/>
          </a:prstGeom>
          <a:solidFill>
            <a:srgbClr val="2874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3"/>
          <p:cNvSpPr/>
          <p:nvPr/>
        </p:nvSpPr>
        <p:spPr>
          <a:xfrm>
            <a:off x="1798920" y="242316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4"/>
          <p:cNvSpPr/>
          <p:nvPr/>
        </p:nvSpPr>
        <p:spPr>
          <a:xfrm>
            <a:off x="2570760" y="2423160"/>
            <a:ext cx="1781280" cy="566280"/>
          </a:xfrm>
          <a:prstGeom prst="rect">
            <a:avLst/>
          </a:prstGeom>
          <a:solidFill>
            <a:srgbClr val="2980b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5"/>
          <p:cNvSpPr/>
          <p:nvPr/>
        </p:nvSpPr>
        <p:spPr>
          <a:xfrm>
            <a:off x="2570760" y="2423160"/>
            <a:ext cx="1781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Addr/Imm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(7)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6"/>
          <p:cNvSpPr/>
          <p:nvPr/>
        </p:nvSpPr>
        <p:spPr>
          <a:xfrm>
            <a:off x="255960" y="3154680"/>
            <a:ext cx="1005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J-format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7"/>
          <p:cNvSpPr/>
          <p:nvPr/>
        </p:nvSpPr>
        <p:spPr>
          <a:xfrm>
            <a:off x="255960" y="3429000"/>
            <a:ext cx="752400" cy="566280"/>
          </a:xfrm>
          <a:prstGeom prst="rect">
            <a:avLst/>
          </a:prstGeom>
          <a:solidFill>
            <a:srgbClr val="7d660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8"/>
          <p:cNvSpPr/>
          <p:nvPr/>
        </p:nvSpPr>
        <p:spPr>
          <a:xfrm>
            <a:off x="255960" y="3429000"/>
            <a:ext cx="752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9"/>
          <p:cNvSpPr/>
          <p:nvPr/>
        </p:nvSpPr>
        <p:spPr>
          <a:xfrm>
            <a:off x="1027440" y="3429000"/>
            <a:ext cx="3324240" cy="566280"/>
          </a:xfrm>
          <a:prstGeom prst="rect">
            <a:avLst/>
          </a:prstGeom>
          <a:solidFill>
            <a:srgbClr val="a0522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0"/>
          <p:cNvSpPr/>
          <p:nvPr/>
        </p:nvSpPr>
        <p:spPr>
          <a:xfrm>
            <a:off x="1027440" y="3429000"/>
            <a:ext cx="33242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Target Address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(13)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8" name="Table 0"/>
          <p:cNvGraphicFramePr/>
          <p:nvPr/>
        </p:nvGraphicFramePr>
        <p:xfrm>
          <a:off x="4572000" y="749880"/>
          <a:ext cx="4297320" cy="394956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2377440"/>
              </a:tblGrid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Instruction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Type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Operation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R[rd] = R[rs] + R[rt]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R[rd] = R[rs] − R[rt]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and / 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Bitwise operations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slt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 if less than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lw / sw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 / Store word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beq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Branch if equal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addi / slti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Immediate arithmetic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3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 / jal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Jump / Jump-and-link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CPU Control Unit — Signal Mapping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4" name="Table 0"/>
          <p:cNvGraphicFramePr/>
          <p:nvPr/>
        </p:nvGraphicFramePr>
        <p:xfrm>
          <a:off x="255960" y="749880"/>
          <a:ext cx="8110080" cy="365760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777240"/>
                <a:gridCol w="960120"/>
                <a:gridCol w="868680"/>
                <a:gridCol w="868680"/>
                <a:gridCol w="868680"/>
                <a:gridCol w="777240"/>
                <a:gridCol w="640080"/>
                <a:gridCol w="65808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Instruction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RegDst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ALUSrc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MemtoReg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RegWrite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MemRead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MemWrite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Branch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ALUOp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Jump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R-type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lw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sw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addi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beq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j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slti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71809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05" name="Text 5"/>
          <p:cNvSpPr/>
          <p:nvPr/>
        </p:nvSpPr>
        <p:spPr>
          <a:xfrm>
            <a:off x="255960" y="4462200"/>
            <a:ext cx="8613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Green = signal asserted (1).  ALUOp: 00=pass-through  01=subtract  10=R-type  11=add (for lw/sw/addi)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VHDL Component Specifications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1" name="Table 0"/>
          <p:cNvGraphicFramePr/>
          <p:nvPr/>
        </p:nvGraphicFramePr>
        <p:xfrm>
          <a:off x="255960" y="749880"/>
          <a:ext cx="8613000" cy="437904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401280"/>
              </a:tblGrid>
              <a:tr h="100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Component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Key Ports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Behaviour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Data Memory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5d40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clk, addr(32), write_data(32), read_data(32)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Synchronous write, asynchronous read — 256 × 32 RAM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5d40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a(32), b(32), alu_control(3), result(32), zero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 operations: ADD / SUB / AND / OR / SLT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 Control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5d40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ALUOp(2), Funct(4) → alu_control(3)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Decodes funct field for R-type instructions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Register File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5d40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clk, rst, 8 registers × 32-bit, R0 always 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Synchronous write, asynchronous read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Instruction Memory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5d40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pc(32) → instruction(32)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ROM — 16 entries, fully combinational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Control Unit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5d40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opcode(3) → 9 control signals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Combinational; reset drives all outputs to 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GHDL-Specific Implementation Notes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255960" y="749880"/>
            <a:ext cx="8613000" cy="67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255960" y="749880"/>
            <a:ext cx="54000" cy="676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384120" y="91440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7"/>
          <p:cNvSpPr/>
          <p:nvPr/>
        </p:nvSpPr>
        <p:spPr>
          <a:xfrm>
            <a:off x="822960" y="78624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Multiplication Width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822960" y="1051560"/>
            <a:ext cx="7936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32×32 = 64-bit result. Always capture in an intermediate variable before slicing to avoid bound-check failures at elaboration time.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255960" y="1499760"/>
            <a:ext cx="8613000" cy="67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255960" y="1499760"/>
            <a:ext cx="54000" cy="676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1" descr="preencoded.png"/>
          <p:cNvPicPr/>
          <p:nvPr/>
        </p:nvPicPr>
        <p:blipFill>
          <a:blip r:embed="rId2"/>
          <a:stretch/>
        </p:blipFill>
        <p:spPr>
          <a:xfrm>
            <a:off x="384120" y="166428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11"/>
          <p:cNvSpPr/>
          <p:nvPr/>
        </p:nvSpPr>
        <p:spPr>
          <a:xfrm>
            <a:off x="822960" y="15361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No Inline Slicing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822960" y="1801440"/>
            <a:ext cx="7936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(a * b)(15 downto 0) is invalid VHDL-2008 in GHDL. Assign the product to a variable first, then slice it separately.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255960" y="2249280"/>
            <a:ext cx="8613000" cy="67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255960" y="2249280"/>
            <a:ext cx="54000" cy="6760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2" descr="preencoded.png"/>
          <p:cNvPicPr/>
          <p:nvPr/>
        </p:nvPicPr>
        <p:blipFill>
          <a:blip r:embed="rId3"/>
          <a:stretch/>
        </p:blipFill>
        <p:spPr>
          <a:xfrm>
            <a:off x="384120" y="241416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15"/>
          <p:cNvSpPr/>
          <p:nvPr/>
        </p:nvSpPr>
        <p:spPr>
          <a:xfrm>
            <a:off x="822960" y="228600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No Duplicate Signal Drivers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822960" y="2551320"/>
            <a:ext cx="7936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Assigning to the same signal twice in concurrent code causes an elaboration error. Use a single conditional assignment instead.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255960" y="2999160"/>
            <a:ext cx="8613000" cy="67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8"/>
          <p:cNvSpPr/>
          <p:nvPr/>
        </p:nvSpPr>
        <p:spPr>
          <a:xfrm>
            <a:off x="255960" y="2999160"/>
            <a:ext cx="54000" cy="6760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3" descr="preencoded.png"/>
          <p:cNvPicPr/>
          <p:nvPr/>
        </p:nvPicPr>
        <p:blipFill>
          <a:blip r:embed="rId4"/>
          <a:stretch/>
        </p:blipFill>
        <p:spPr>
          <a:xfrm>
            <a:off x="384120" y="316368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19"/>
          <p:cNvSpPr/>
          <p:nvPr/>
        </p:nvSpPr>
        <p:spPr>
          <a:xfrm>
            <a:off x="822960" y="303588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Simulation Termination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0"/>
          <p:cNvSpPr/>
          <p:nvPr/>
        </p:nvSpPr>
        <p:spPr>
          <a:xfrm>
            <a:off x="822960" y="3300840"/>
            <a:ext cx="7936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Use std.env.stop at the end of stimulus. Without it, a lone clock process runs forever and hangs GHDL indefinitely.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1"/>
          <p:cNvSpPr/>
          <p:nvPr/>
        </p:nvSpPr>
        <p:spPr>
          <a:xfrm>
            <a:off x="255960" y="3749040"/>
            <a:ext cx="8613000" cy="67608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2"/>
          <p:cNvSpPr/>
          <p:nvPr/>
        </p:nvSpPr>
        <p:spPr>
          <a:xfrm>
            <a:off x="255960" y="3749040"/>
            <a:ext cx="54000" cy="676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4" descr="preencoded.png"/>
          <p:cNvPicPr/>
          <p:nvPr/>
        </p:nvPicPr>
        <p:blipFill>
          <a:blip r:embed="rId5"/>
          <a:stretch/>
        </p:blipFill>
        <p:spPr>
          <a:xfrm>
            <a:off x="384120" y="391356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23"/>
          <p:cNvSpPr/>
          <p:nvPr/>
        </p:nvSpPr>
        <p:spPr>
          <a:xfrm>
            <a:off x="822960" y="378576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Procedure Parameters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4"/>
          <p:cNvSpPr/>
          <p:nvPr/>
        </p:nvSpPr>
        <p:spPr>
          <a:xfrm>
            <a:off x="822960" y="4050720"/>
            <a:ext cx="7936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Never use the signal keyword in procedure parameters when the procedure is called from inside a process — use variable or in/out mode instead.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3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2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1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Testbench Results — Expected Values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7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5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7" name="Table 1"/>
          <p:cNvGraphicFramePr/>
          <p:nvPr/>
        </p:nvGraphicFramePr>
        <p:xfrm>
          <a:off x="255960" y="749880"/>
          <a:ext cx="8247240" cy="397548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218400"/>
                <a:gridCol w="640080"/>
              </a:tblGrid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Component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Test Case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Expected Output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Pass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Data Memory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Write 1024 → address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Read back 0x00000400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Data Memory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Write 429496 → address 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Read back 0x00068DF8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 2500 + 25000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0x00006B6C  (27500)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 540250 − 37800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0x00076AA2  (502450)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AND 53957 &amp; 30000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0x00005180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ALU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SLT 58847537 &lt; 72464383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0x00000001  (true)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Register File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Write R1 = 1934858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Read R1 = 0x001D874A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41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Register File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0" u="none" strike="noStrike">
                          <a:solidFill>
                            <a:srgbClr val="2d37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Write R0 (zero register)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Always reads 0x00000000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2e7d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0"/>
                      </a:solidFill>
                      <a:prstDash val="solid"/>
                    </a:lnL>
                    <a:lnR w="6480">
                      <a:solidFill>
                        <a:srgbClr val="cbd5e0"/>
                      </a:solidFill>
                      <a:prstDash val="solid"/>
                    </a:lnR>
                    <a:lnT w="6480">
                      <a:solidFill>
                        <a:srgbClr val="cbd5e0"/>
                      </a:solidFill>
                      <a:prstDash val="solid"/>
                    </a:lnT>
                    <a:lnB w="6480">
                      <a:solidFill>
                        <a:srgbClr val="cbd5e0"/>
                      </a:solidFill>
                      <a:prstDash val="solid"/>
                    </a:lnB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ALU GTKWave Waveform 1"/>
          <p:cNvPicPr/>
          <p:nvPr/>
        </p:nvPicPr>
        <p:blipFill>
          <a:blip r:embed="rId1"/>
          <a:stretch/>
        </p:blipFill>
        <p:spPr>
          <a:xfrm>
            <a:off x="164520" y="649800"/>
            <a:ext cx="8979480" cy="2237400"/>
          </a:xfrm>
          <a:prstGeom prst="rect">
            <a:avLst/>
          </a:prstGeom>
          <a:noFill/>
          <a:ln w="12700">
            <a:solidFill>
              <a:srgbClr val="1c3557"/>
            </a:solidFill>
            <a:round/>
          </a:ln>
        </p:spPr>
      </p:pic>
      <p:pic>
        <p:nvPicPr>
          <p:cNvPr id="249" name="Datapath GTKWave"/>
          <p:cNvPicPr/>
          <p:nvPr/>
        </p:nvPicPr>
        <p:blipFill>
          <a:blip r:embed="rId2"/>
          <a:stretch/>
        </p:blipFill>
        <p:spPr>
          <a:xfrm>
            <a:off x="172440" y="2887200"/>
            <a:ext cx="8971560" cy="2256840"/>
          </a:xfrm>
          <a:prstGeom prst="rect">
            <a:avLst/>
          </a:prstGeom>
          <a:noFill/>
          <a:ln w="12700">
            <a:solidFill>
              <a:srgbClr val="1c3557"/>
            </a:solidFill>
            <a:round/>
          </a:ln>
        </p:spPr>
      </p:pic>
      <p:sp>
        <p:nvSpPr>
          <p:cNvPr id="250" name="Shape 39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31840" y="165240"/>
            <a:ext cx="4568760" cy="64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Datap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ath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Testbe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nch —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GTKW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164520" y="0"/>
            <a:ext cx="8978760" cy="65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274320" y="0"/>
            <a:ext cx="80460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Development &amp; Simulation Workflow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164520" y="4892040"/>
            <a:ext cx="8978760" cy="250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274320" y="4892040"/>
            <a:ext cx="87775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University of Ghana  |  CPEN 315 — Computer Organisation &amp; Architecture  | 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255960" y="749880"/>
            <a:ext cx="1608480" cy="29253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255960" y="749880"/>
            <a:ext cx="1608480" cy="383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301680" y="749880"/>
            <a:ext cx="319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640080" y="749880"/>
            <a:ext cx="116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Write VHDL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329040" y="1225440"/>
            <a:ext cx="14623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Author entity + architecture for each component. Follow VHDL-2008 std.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1874520" y="1737360"/>
            <a:ext cx="127440" cy="25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1"/>
          <p:cNvSpPr/>
          <p:nvPr/>
        </p:nvSpPr>
        <p:spPr>
          <a:xfrm>
            <a:off x="1974960" y="749880"/>
            <a:ext cx="1608480" cy="29253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2"/>
          <p:cNvSpPr/>
          <p:nvPr/>
        </p:nvSpPr>
        <p:spPr>
          <a:xfrm>
            <a:off x="1974960" y="749880"/>
            <a:ext cx="1608480" cy="383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2020680" y="749880"/>
            <a:ext cx="319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2359080" y="749880"/>
            <a:ext cx="116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Analyse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5"/>
          <p:cNvSpPr/>
          <p:nvPr/>
        </p:nvSpPr>
        <p:spPr>
          <a:xfrm>
            <a:off x="2048400" y="1188720"/>
            <a:ext cx="1462320" cy="4748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2066400" y="1188720"/>
            <a:ext cx="142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8fb98"/>
                </a:solidFill>
                <a:effectLst/>
                <a:uFillTx/>
                <a:latin typeface="Consolas"/>
                <a:ea typeface="Consolas"/>
              </a:rPr>
              <a:t>ghdl -a --std=08 *.vhdl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2048400" y="1737360"/>
            <a:ext cx="14623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Syntax + semantic check. Errors reported per file.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8"/>
          <p:cNvSpPr/>
          <p:nvPr/>
        </p:nvSpPr>
        <p:spPr>
          <a:xfrm>
            <a:off x="3593520" y="1737360"/>
            <a:ext cx="127440" cy="25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9"/>
          <p:cNvSpPr/>
          <p:nvPr/>
        </p:nvSpPr>
        <p:spPr>
          <a:xfrm>
            <a:off x="3694320" y="749880"/>
            <a:ext cx="1608480" cy="29253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0"/>
          <p:cNvSpPr/>
          <p:nvPr/>
        </p:nvSpPr>
        <p:spPr>
          <a:xfrm>
            <a:off x="3694320" y="749880"/>
            <a:ext cx="1608480" cy="383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3740040" y="749880"/>
            <a:ext cx="319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4078080" y="749880"/>
            <a:ext cx="116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Elaborate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3"/>
          <p:cNvSpPr/>
          <p:nvPr/>
        </p:nvSpPr>
        <p:spPr>
          <a:xfrm>
            <a:off x="3767400" y="1188720"/>
            <a:ext cx="1462320" cy="4748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3785760" y="1188720"/>
            <a:ext cx="142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8fb98"/>
                </a:solidFill>
                <a:effectLst/>
                <a:uFillTx/>
                <a:latin typeface="Consolas"/>
                <a:ea typeface="Consolas"/>
              </a:rPr>
              <a:t>ghdl -e --std=08 tb_name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5"/>
          <p:cNvSpPr/>
          <p:nvPr/>
        </p:nvSpPr>
        <p:spPr>
          <a:xfrm>
            <a:off x="3767400" y="1737360"/>
            <a:ext cx="14623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Link design hierarchy and resolve port maps.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6"/>
          <p:cNvSpPr/>
          <p:nvPr/>
        </p:nvSpPr>
        <p:spPr>
          <a:xfrm>
            <a:off x="5312520" y="1737360"/>
            <a:ext cx="127440" cy="25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7"/>
          <p:cNvSpPr/>
          <p:nvPr/>
        </p:nvSpPr>
        <p:spPr>
          <a:xfrm>
            <a:off x="5413320" y="749880"/>
            <a:ext cx="1608480" cy="29253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8"/>
          <p:cNvSpPr/>
          <p:nvPr/>
        </p:nvSpPr>
        <p:spPr>
          <a:xfrm>
            <a:off x="5413320" y="749880"/>
            <a:ext cx="1608480" cy="383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9"/>
          <p:cNvSpPr/>
          <p:nvPr/>
        </p:nvSpPr>
        <p:spPr>
          <a:xfrm>
            <a:off x="5459040" y="749880"/>
            <a:ext cx="319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0"/>
          <p:cNvSpPr/>
          <p:nvPr/>
        </p:nvSpPr>
        <p:spPr>
          <a:xfrm>
            <a:off x="5797440" y="749880"/>
            <a:ext cx="116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Simulate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1"/>
          <p:cNvSpPr/>
          <p:nvPr/>
        </p:nvSpPr>
        <p:spPr>
          <a:xfrm>
            <a:off x="5486400" y="1188720"/>
            <a:ext cx="1462320" cy="4748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2"/>
          <p:cNvSpPr/>
          <p:nvPr/>
        </p:nvSpPr>
        <p:spPr>
          <a:xfrm>
            <a:off x="5504760" y="1188720"/>
            <a:ext cx="142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98fb98"/>
                </a:solidFill>
                <a:effectLst/>
                <a:uFillTx/>
                <a:latin typeface="Consolas"/>
                <a:ea typeface="Consolas"/>
              </a:rPr>
              <a:t>ghdl -r ... --wave=wave.ghw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5486400" y="1737360"/>
            <a:ext cx="14623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Run testbench and emit waveform file.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4"/>
          <p:cNvSpPr/>
          <p:nvPr/>
        </p:nvSpPr>
        <p:spPr>
          <a:xfrm>
            <a:off x="7031880" y="1737360"/>
            <a:ext cx="127440" cy="255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5"/>
          <p:cNvSpPr/>
          <p:nvPr/>
        </p:nvSpPr>
        <p:spPr>
          <a:xfrm>
            <a:off x="7132320" y="749880"/>
            <a:ext cx="1608480" cy="29253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6"/>
          <p:cNvSpPr/>
          <p:nvPr/>
        </p:nvSpPr>
        <p:spPr>
          <a:xfrm>
            <a:off x="7132320" y="749880"/>
            <a:ext cx="1608480" cy="3834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7"/>
          <p:cNvSpPr/>
          <p:nvPr/>
        </p:nvSpPr>
        <p:spPr>
          <a:xfrm>
            <a:off x="7178040" y="749880"/>
            <a:ext cx="319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8"/>
          <p:cNvSpPr/>
          <p:nvPr/>
        </p:nvSpPr>
        <p:spPr>
          <a:xfrm>
            <a:off x="7516440" y="749880"/>
            <a:ext cx="116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GTKWave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9"/>
          <p:cNvSpPr/>
          <p:nvPr/>
        </p:nvSpPr>
        <p:spPr>
          <a:xfrm>
            <a:off x="7205400" y="1225440"/>
            <a:ext cx="14623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Open .ghw file. Add signals, zoom, verify transitions.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0"/>
          <p:cNvSpPr/>
          <p:nvPr/>
        </p:nvSpPr>
        <p:spPr>
          <a:xfrm>
            <a:off x="255960" y="3822120"/>
            <a:ext cx="8613000" cy="621000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1"/>
          <p:cNvSpPr/>
          <p:nvPr/>
        </p:nvSpPr>
        <p:spPr>
          <a:xfrm>
            <a:off x="384120" y="3840480"/>
            <a:ext cx="83660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b6000"/>
                </a:solidFill>
                <a:effectLst/>
                <a:uFillTx/>
                <a:latin typeface="Calibri"/>
                <a:ea typeface="Calibri"/>
              </a:rPr>
              <a:t>⏱  Stop time formula:  100 ns  +  (N_tests × 10 ns)  +  margin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b6000"/>
                </a:solidFill>
                <a:effectLst/>
                <a:uFillTx/>
                <a:latin typeface="Calibri"/>
                <a:ea typeface="Calibri"/>
              </a:rPr>
              <a:t>Ensures all stimulus completes before GHDL auto-terminates the simulation.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0" y="4800600"/>
            <a:ext cx="9143280" cy="342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"/>
          <p:cNvSpPr/>
          <p:nvPr/>
        </p:nvSpPr>
        <p:spPr>
          <a:xfrm>
            <a:off x="-914400" y="-914400"/>
            <a:ext cx="4571280" cy="4571280"/>
          </a:xfrm>
          <a:prstGeom prst="ellipse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6400800" y="2743200"/>
            <a:ext cx="3656880" cy="3656880"/>
          </a:xfrm>
          <a:prstGeom prst="ellipse">
            <a:avLst/>
          </a:prstGeom>
          <a:solidFill>
            <a:srgbClr val="14a7a0">
              <a:alpha val="10000"/>
            </a:srgbClr>
          </a:solidFill>
          <a:ln w="12700">
            <a:solidFill>
              <a:srgbClr val="14a7a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548640" y="27432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Conclusion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548640" y="850320"/>
            <a:ext cx="1645200" cy="45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548640" y="1005840"/>
            <a:ext cx="8046000" cy="749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6"/>
          <p:cNvSpPr/>
          <p:nvPr/>
        </p:nvSpPr>
        <p:spPr>
          <a:xfrm>
            <a:off x="548640" y="1005840"/>
            <a:ext cx="54000" cy="749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694800" y="1024200"/>
            <a:ext cx="7771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4a7a0"/>
                </a:solidFill>
                <a:effectLst/>
                <a:uFillTx/>
                <a:latin typeface="Trebuchet MS"/>
                <a:ea typeface="Trebuchet MS"/>
              </a:rPr>
              <a:t>16-bit CPU — Complete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694800" y="1261800"/>
            <a:ext cx="7771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Successfully designed a full 16-bit CPU in Logisim with ALU, datapath, and combinational control unit.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9"/>
          <p:cNvSpPr/>
          <p:nvPr/>
        </p:nvSpPr>
        <p:spPr>
          <a:xfrm>
            <a:off x="548640" y="1856160"/>
            <a:ext cx="8046000" cy="749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0"/>
          <p:cNvSpPr/>
          <p:nvPr/>
        </p:nvSpPr>
        <p:spPr>
          <a:xfrm>
            <a:off x="548640" y="1856160"/>
            <a:ext cx="54000" cy="749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1"/>
          <p:cNvSpPr/>
          <p:nvPr/>
        </p:nvSpPr>
        <p:spPr>
          <a:xfrm>
            <a:off x="694800" y="1874520"/>
            <a:ext cx="7771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4a7a0"/>
                </a:solidFill>
                <a:effectLst/>
                <a:uFillTx/>
                <a:latin typeface="Trebuchet MS"/>
                <a:ea typeface="Trebuchet MS"/>
              </a:rPr>
              <a:t>32-bit MIPS — All 6 Components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694800" y="2112120"/>
            <a:ext cx="7771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Extended all 6 components to 32-bit in VHDL-2008; all simulate cleanly in GHDL with zero errors.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3"/>
          <p:cNvSpPr/>
          <p:nvPr/>
        </p:nvSpPr>
        <p:spPr>
          <a:xfrm>
            <a:off x="548640" y="2706480"/>
            <a:ext cx="8046000" cy="749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4"/>
          <p:cNvSpPr/>
          <p:nvPr/>
        </p:nvSpPr>
        <p:spPr>
          <a:xfrm>
            <a:off x="548640" y="2706480"/>
            <a:ext cx="54000" cy="749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694800" y="2724840"/>
            <a:ext cx="7771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4a7a0"/>
                </a:solidFill>
                <a:effectLst/>
                <a:uFillTx/>
                <a:latin typeface="Trebuchet MS"/>
                <a:ea typeface="Trebuchet MS"/>
              </a:rPr>
              <a:t>Testbench Validation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6"/>
          <p:cNvSpPr/>
          <p:nvPr/>
        </p:nvSpPr>
        <p:spPr>
          <a:xfrm>
            <a:off x="694800" y="2962800"/>
            <a:ext cx="7771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All testbenches validate correct behaviour for every specified test case across Data Memory, ALU, and Register File.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7"/>
          <p:cNvSpPr/>
          <p:nvPr/>
        </p:nvSpPr>
        <p:spPr>
          <a:xfrm>
            <a:off x="548640" y="3557160"/>
            <a:ext cx="8046000" cy="749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8"/>
          <p:cNvSpPr/>
          <p:nvPr/>
        </p:nvSpPr>
        <p:spPr>
          <a:xfrm>
            <a:off x="548640" y="3557160"/>
            <a:ext cx="54000" cy="749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9"/>
          <p:cNvSpPr/>
          <p:nvPr/>
        </p:nvSpPr>
        <p:spPr>
          <a:xfrm>
            <a:off x="694800" y="3575160"/>
            <a:ext cx="7771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4a7a0"/>
                </a:solidFill>
                <a:effectLst/>
                <a:uFillTx/>
                <a:latin typeface="Trebuchet MS"/>
                <a:ea typeface="Trebuchet MS"/>
              </a:rPr>
              <a:t>Key Insight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0"/>
          <p:cNvSpPr/>
          <p:nvPr/>
        </p:nvSpPr>
        <p:spPr>
          <a:xfrm>
            <a:off x="694800" y="3813120"/>
            <a:ext cx="77716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GHDL's strict IEEE-2008 compliance requires careful bit-width management and explicit intermediate variables.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548640" y="4846320"/>
            <a:ext cx="8046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a9bc0"/>
                </a:solidFill>
                <a:effectLst/>
                <a:uFillTx/>
                <a:latin typeface="Calibri"/>
                <a:ea typeface="Calibri"/>
              </a:rPr>
              <a:t>University of Ghana  —  CPEN 315  — 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2026-04-03T22:16:34Z</dcterms:created>
  <dc:creator>PptxGenJS</dc:creator>
  <dc:description/>
  <dc:language>en-US</dc:language>
  <cp:lastModifiedBy/>
  <dcterms:modified xsi:type="dcterms:W3CDTF">2026-04-03T23:23:52Z</dcterms:modified>
  <cp:revision>7</cp:revision>
  <dc:subject>PptxGenJS Presentation</dc:subject>
  <dc:title>CPEN 315 — 16-bit CPU &amp; 32-bit MIPS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